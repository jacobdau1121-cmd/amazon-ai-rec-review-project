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Today, we'd like to present our project proposal, titled "AI Recommendation’s Impact on E-commerce". This is a data analysis project that we've planned based on what we've learned in our course.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project started with a simple observation from our daily lives. When we shop online, we noticed that AI recommendation systems are always working, showing us products we might like. We became curious about this "hidden" process and wanted to use our new data analysis skills to explore it.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curiosity led us to three main research questions. First, what kind of products does the AI like to recommend? Second, are products with high ratings and high prices more likely to be shown to us? And finally, is a higher price always a guarantee for a better user review?</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Here's our plan. We will use a publicly available dataset from Kaggle about Amazon electronics reviews. Since the data doesn't directly tell us if a product was recommended by AI, we'll create two groups: "Popular" products, which we believe are more likely to be recommended, and "Ordinary" products. By comparing these two groups, we aim to find answers to our questions.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complete this project, we will use all the tools we learned in our course. We'll use VS Code as our main workspace, Python for analyzing the data, Git and GitHub to keep track of our work, and finally, Quarto to write a professional report.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 have divided the work clearly. Dou Yuhan is responsible for the project's logic and content, including designing the framework and writing the report. Yang Haoyuxuan is responsible for the technical side, including coding, data processing, and managing our project on GitHub.</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 summary, this project is perfect for us as beginners. It covers all the tools and methods taught in the course. We have a clear workflow and division of labor. Most importantly, it's a practical way to apply our classroom knowledge to understand a real-world phenomenon.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That's all for our project proposal. Thank you for your attention. We are now ready to answer any questions you may have.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svg"/><Relationship Id="rId12" Type="http://schemas.openxmlformats.org/officeDocument/2006/relationships/notesSlide" Target="../notesSlides/notesSlide4.xml"/><Relationship Id="rId11" Type="http://schemas.openxmlformats.org/officeDocument/2006/relationships/slideLayout" Target="../slideLayouts/slideLayout12.xml"/><Relationship Id="rId10" Type="http://schemas.openxmlformats.org/officeDocument/2006/relationships/image" Target="../media/image22.sv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0.svg"/><Relationship Id="rId7" Type="http://schemas.openxmlformats.org/officeDocument/2006/relationships/image" Target="../media/image29.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24.svg"/><Relationship Id="rId10" Type="http://schemas.openxmlformats.org/officeDocument/2006/relationships/notesSlide" Target="../notesSlides/notesSlide5.xml"/><Relationship Id="rId1"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0.svg"/><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374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016000"/>
            <a:ext cx="3556000" cy="3556000"/>
          </a:xfrm>
          <a:prstGeom prst="ellipse">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0"/>
            <a:ext cx="2540000" cy="2540000"/>
          </a:xfrm>
          <a:prstGeom prst="roundRect">
            <a:avLst>
              <a:gd name="adj" fmla="val 0"/>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381000" y="2032000"/>
            <a:ext cx="11430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FFFFFF"/>
                </a:solidFill>
                <a:latin typeface="Arial" panose="020B0604020202020204"/>
                <a:ea typeface="Arial" panose="020B0604020202020204"/>
                <a:cs typeface="Arial" panose="020B0604020202020204"/>
                <a:sym typeface="Arial" panose="020B0604020202020204"/>
              </a:rPr>
              <a:t>AI Recommendation’s Impact on E-commerce</a:t>
            </a:r>
            <a:endParaRPr lang="en-US" sz="1100"/>
          </a:p>
        </p:txBody>
      </p:sp>
      <p:sp>
        <p:nvSpPr>
          <p:cNvPr id="5" name="AutoShape 5"/>
          <p:cNvSpPr/>
          <p:nvPr/>
        </p:nvSpPr>
        <p:spPr>
          <a:xfrm>
            <a:off x="381000" y="3556000"/>
            <a:ext cx="1143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FFFFFF">
                    <a:alpha val="70196"/>
                  </a:srgbClr>
                </a:solidFill>
                <a:latin typeface="Arial" panose="020B0604020202020204"/>
                <a:ea typeface="Arial" panose="020B0604020202020204"/>
                <a:cs typeface="Arial" panose="020B0604020202020204"/>
                <a:sym typeface="Arial" panose="020B0604020202020204"/>
              </a:rPr>
              <a:t>A Data Analysis Project Proposal</a:t>
            </a:r>
            <a:endParaRPr lang="en-US" sz="1100"/>
          </a:p>
        </p:txBody>
      </p:sp>
      <p:sp>
        <p:nvSpPr>
          <p:cNvPr id="6" name="AutoShape 6"/>
          <p:cNvSpPr/>
          <p:nvPr/>
        </p:nvSpPr>
        <p:spPr>
          <a:xfrm>
            <a:off x="5334000" y="4635500"/>
            <a:ext cx="1524000" cy="508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381000" y="5143500"/>
            <a:ext cx="1143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60000"/>
                  </a:srgbClr>
                </a:solidFill>
                <a:latin typeface="Arial" panose="020B0604020202020204"/>
                <a:ea typeface="Arial" panose="020B0604020202020204"/>
                <a:cs typeface="Arial" panose="020B0604020202020204"/>
                <a:sym typeface="Arial" panose="020B0604020202020204"/>
              </a:rPr>
              <a:t>Team Members: Dou Yuhan &amp; Yang Haoyuxuan</a:t>
            </a:r>
            <a:endParaRPr lang="en-US" sz="1100"/>
          </a:p>
        </p:txBody>
      </p:sp>
      <p:sp>
        <p:nvSpPr>
          <p:cNvPr id="8" name="AutoShape 8"/>
          <p:cNvSpPr/>
          <p:nvPr/>
        </p:nvSpPr>
        <p:spPr>
          <a:xfrm>
            <a:off x="381000" y="5715000"/>
            <a:ext cx="1143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60000"/>
                  </a:srgbClr>
                </a:solidFill>
                <a:latin typeface="Arial" panose="020B0604020202020204"/>
                <a:ea typeface="Arial" panose="020B0604020202020204"/>
                <a:cs typeface="Arial" panose="020B0604020202020204"/>
                <a:sym typeface="Arial" panose="020B0604020202020204"/>
              </a:rPr>
              <a:t>Date: July 10,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48BB78">
              <a:alpha val="5000"/>
            </a:srgbClr>
          </a:solidFill>
          <a:ln cap="flat" cmpd="sng">
            <a:solidFill>
              <a:srgbClr val="2EA25E">
                <a:alpha val="5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2D3748">
              <a:alpha val="3000"/>
            </a:srgbClr>
          </a:solidFill>
          <a:ln cap="flat" cmpd="sng">
            <a:solidFill>
              <a:srgbClr val="18212F">
                <a:alpha val="3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508000" y="2032000"/>
            <a:ext cx="355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Our Inspiration</a:t>
            </a:r>
            <a:endParaRPr lang="en-US" sz="1100"/>
          </a:p>
        </p:txBody>
      </p:sp>
      <p:sp>
        <p:nvSpPr>
          <p:cNvPr id="5" name="AutoShape 5"/>
          <p:cNvSpPr/>
          <p:nvPr/>
        </p:nvSpPr>
        <p:spPr>
          <a:xfrm>
            <a:off x="508000" y="3683000"/>
            <a:ext cx="1016000" cy="76200"/>
          </a:xfrm>
          <a:prstGeom prst="roundRect">
            <a:avLst>
              <a:gd name="adj" fmla="val 0"/>
            </a:avLst>
          </a:prstGeom>
          <a:solidFill>
            <a:srgbClr val="48BB78">
              <a:alpha val="100000"/>
            </a:srgbClr>
          </a:solidFill>
          <a:ln cap="flat" cmpd="sng">
            <a:solidFill>
              <a:srgbClr val="2EA25E">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4064000"/>
            <a:ext cx="3556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Transforming everyday online shopping observations into a practical journey to explore the unseen AI shaping our digital experiences.</a:t>
            </a:r>
            <a:endParaRPr lang="en-US" sz="1100"/>
          </a:p>
        </p:txBody>
      </p:sp>
      <p:sp>
        <p:nvSpPr>
          <p:cNvPr id="7" name="AutoShape 7"/>
          <p:cNvSpPr/>
          <p:nvPr/>
        </p:nvSpPr>
        <p:spPr>
          <a:xfrm>
            <a:off x="4572000" y="1270000"/>
            <a:ext cx="7112000" cy="1524000"/>
          </a:xfrm>
          <a:prstGeom prst="roundRect">
            <a:avLst>
              <a:gd name="adj" fmla="val 0"/>
            </a:avLst>
          </a:prstGeom>
          <a:solidFill>
            <a:srgbClr val="F7FAFC">
              <a:alpha val="100000"/>
            </a:srgbClr>
          </a:solidFill>
          <a:ln cap="flat" cmpd="sng">
            <a:solidFill>
              <a:srgbClr val="C7D8E3">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572000" y="1460500"/>
            <a:ext cx="76200" cy="1143000"/>
          </a:xfrm>
          <a:prstGeom prst="roundRect">
            <a:avLst>
              <a:gd name="adj" fmla="val 0"/>
            </a:avLst>
          </a:prstGeom>
          <a:solidFill>
            <a:srgbClr val="48BB78">
              <a:alpha val="100000"/>
            </a:srgbClr>
          </a:solidFill>
          <a:ln cap="flat" cmpd="sng">
            <a:solidFill>
              <a:srgbClr val="2EA25E">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89500" y="1587500"/>
            <a:ext cx="406400" cy="406400"/>
          </a:xfrm>
          <a:prstGeom prst="rect">
            <a:avLst/>
          </a:prstGeom>
        </p:spPr>
      </p:pic>
      <p:sp>
        <p:nvSpPr>
          <p:cNvPr id="10" name="AutoShape 10"/>
          <p:cNvSpPr/>
          <p:nvPr/>
        </p:nvSpPr>
        <p:spPr>
          <a:xfrm>
            <a:off x="5461000" y="1524000"/>
            <a:ext cx="596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Daily Life</a:t>
            </a:r>
            <a:endParaRPr lang="en-US" sz="1100"/>
          </a:p>
        </p:txBody>
      </p:sp>
      <p:sp>
        <p:nvSpPr>
          <p:cNvPr id="11" name="AutoShape 11"/>
          <p:cNvSpPr/>
          <p:nvPr/>
        </p:nvSpPr>
        <p:spPr>
          <a:xfrm>
            <a:off x="5461000" y="19685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Inspired by our personal browsing experiences on Amazon and Taobao, where smart product suggestions seamlessly integrate into the shopping journey, sparking curiosity about the mechanics behind them.</a:t>
            </a:r>
            <a:endParaRPr lang="en-US" sz="1100"/>
          </a:p>
        </p:txBody>
      </p:sp>
      <p:sp>
        <p:nvSpPr>
          <p:cNvPr id="12" name="AutoShape 12"/>
          <p:cNvSpPr/>
          <p:nvPr/>
        </p:nvSpPr>
        <p:spPr>
          <a:xfrm>
            <a:off x="4572000" y="2984500"/>
            <a:ext cx="7112000" cy="1524000"/>
          </a:xfrm>
          <a:prstGeom prst="roundRect">
            <a:avLst>
              <a:gd name="adj" fmla="val 0"/>
            </a:avLst>
          </a:prstGeom>
          <a:solidFill>
            <a:srgbClr val="F7FAFC">
              <a:alpha val="100000"/>
            </a:srgbClr>
          </a:solidFill>
          <a:ln cap="flat" cmpd="sng">
            <a:solidFill>
              <a:srgbClr val="C7D8E3">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572000" y="3175000"/>
            <a:ext cx="76200" cy="1143000"/>
          </a:xfrm>
          <a:prstGeom prst="roundRect">
            <a:avLst>
              <a:gd name="adj" fmla="val 0"/>
            </a:avLst>
          </a:prstGeom>
          <a:solidFill>
            <a:srgbClr val="48BB78">
              <a:alpha val="100000"/>
            </a:srgbClr>
          </a:solidFill>
          <a:ln cap="flat" cmpd="sng">
            <a:solidFill>
              <a:srgbClr val="2EA25E">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89500" y="3302000"/>
            <a:ext cx="406400" cy="406400"/>
          </a:xfrm>
          <a:prstGeom prst="rect">
            <a:avLst/>
          </a:prstGeom>
        </p:spPr>
      </p:pic>
      <p:sp>
        <p:nvSpPr>
          <p:cNvPr id="15" name="AutoShape 15"/>
          <p:cNvSpPr/>
          <p:nvPr/>
        </p:nvSpPr>
        <p:spPr>
          <a:xfrm>
            <a:off x="5461000" y="3238500"/>
            <a:ext cx="596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The "Hidden" AI Engine</a:t>
            </a:r>
            <a:endParaRPr lang="en-US" sz="1100"/>
          </a:p>
        </p:txBody>
      </p:sp>
      <p:sp>
        <p:nvSpPr>
          <p:cNvPr id="16" name="AutoShape 16"/>
          <p:cNvSpPr/>
          <p:nvPr/>
        </p:nvSpPr>
        <p:spPr>
          <a:xfrm>
            <a:off x="5461000" y="36830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Unveiling the silent algorithms that analyze user behavior behind the scenes, subtly influencing product discovery and personalization in ways often unnoticed by the casual user.</a:t>
            </a:r>
            <a:endParaRPr lang="en-US" sz="1100"/>
          </a:p>
        </p:txBody>
      </p:sp>
      <p:sp>
        <p:nvSpPr>
          <p:cNvPr id="17" name="AutoShape 17"/>
          <p:cNvSpPr/>
          <p:nvPr/>
        </p:nvSpPr>
        <p:spPr>
          <a:xfrm>
            <a:off x="4572000" y="4699000"/>
            <a:ext cx="7112000" cy="1524000"/>
          </a:xfrm>
          <a:prstGeom prst="roundRect">
            <a:avLst>
              <a:gd name="adj" fmla="val 0"/>
            </a:avLst>
          </a:prstGeom>
          <a:solidFill>
            <a:srgbClr val="F7FAFC">
              <a:alpha val="100000"/>
            </a:srgbClr>
          </a:solidFill>
          <a:ln cap="flat" cmpd="sng">
            <a:solidFill>
              <a:srgbClr val="C7D8E3">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4572000" y="4889500"/>
            <a:ext cx="76200" cy="1143000"/>
          </a:xfrm>
          <a:prstGeom prst="roundRect">
            <a:avLst>
              <a:gd name="adj" fmla="val 0"/>
            </a:avLst>
          </a:prstGeom>
          <a:solidFill>
            <a:srgbClr val="48BB78">
              <a:alpha val="100000"/>
            </a:srgbClr>
          </a:solidFill>
          <a:ln cap="flat" cmpd="sng">
            <a:solidFill>
              <a:srgbClr val="2EA25E">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89500" y="5016500"/>
            <a:ext cx="406400" cy="406400"/>
          </a:xfrm>
          <a:prstGeom prst="rect">
            <a:avLst/>
          </a:prstGeom>
        </p:spPr>
      </p:pic>
      <p:sp>
        <p:nvSpPr>
          <p:cNvPr id="20" name="AutoShape 20"/>
          <p:cNvSpPr/>
          <p:nvPr/>
        </p:nvSpPr>
        <p:spPr>
          <a:xfrm>
            <a:off x="5461000" y="4953000"/>
            <a:ext cx="596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 Practical Learning Challenge</a:t>
            </a:r>
            <a:endParaRPr lang="en-US" sz="1100"/>
          </a:p>
        </p:txBody>
      </p:sp>
      <p:sp>
        <p:nvSpPr>
          <p:cNvPr id="21" name="AutoShape 21"/>
          <p:cNvSpPr/>
          <p:nvPr/>
        </p:nvSpPr>
        <p:spPr>
          <a:xfrm>
            <a:off x="5461000" y="53975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A deliberate choice for beginners: a project that balances accessibility with academic rigor, providing a hands-on way to apply classroom theory to a real-world AI scenario.</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48BB78">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4445000"/>
            <a:ext cx="3175000" cy="3175000"/>
          </a:xfrm>
          <a:prstGeom prst="ellipse">
            <a:avLst/>
          </a:prstGeom>
          <a:solidFill>
            <a:srgbClr val="2D3748">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762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Research Questions</a:t>
            </a:r>
            <a:endParaRPr lang="en-US" sz="1100"/>
          </a:p>
        </p:txBody>
      </p:sp>
      <p:sp>
        <p:nvSpPr>
          <p:cNvPr id="5" name="AutoShape 5"/>
          <p:cNvSpPr/>
          <p:nvPr/>
        </p:nvSpPr>
        <p:spPr>
          <a:xfrm>
            <a:off x="508000" y="2286000"/>
            <a:ext cx="3429000" cy="3048000"/>
          </a:xfrm>
          <a:prstGeom prst="roundRect">
            <a:avLst>
              <a:gd name="adj" fmla="val 0"/>
            </a:avLst>
          </a:prstGeom>
          <a:solidFill>
            <a:srgbClr val="48BB78">
              <a:alpha val="8000"/>
            </a:srgbClr>
          </a:solidFill>
          <a:ln w="12700" cap="flat" cmpd="sng">
            <a:solidFill>
              <a:srgbClr val="48BB78">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2603500"/>
            <a:ext cx="406400" cy="406400"/>
          </a:xfrm>
          <a:prstGeom prst="rect">
            <a:avLst/>
          </a:prstGeom>
        </p:spPr>
      </p:pic>
      <p:sp>
        <p:nvSpPr>
          <p:cNvPr id="7" name="AutoShape 7"/>
          <p:cNvSpPr/>
          <p:nvPr/>
        </p:nvSpPr>
        <p:spPr>
          <a:xfrm>
            <a:off x="1270000" y="2603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 Recommendation Bias</a:t>
            </a:r>
            <a:endParaRPr lang="en-US" sz="1100"/>
          </a:p>
        </p:txBody>
      </p:sp>
      <p:cxnSp>
        <p:nvCxnSpPr>
          <p:cNvPr id="8" name="Connector 8"/>
          <p:cNvCxnSpPr/>
          <p:nvPr/>
        </p:nvCxnSpPr>
        <p:spPr>
          <a:xfrm rot="-14946">
            <a:off x="762014" y="3232150"/>
            <a:ext cx="2921000" cy="12700"/>
          </a:xfrm>
          <a:prstGeom prst="straightConnector1">
            <a:avLst/>
          </a:prstGeom>
          <a:solidFill>
            <a:srgbClr val="DEE0E3">
              <a:alpha val="100000"/>
            </a:srgbClr>
          </a:solidFill>
          <a:ln w="12700" cap="flat" cmpd="sng">
            <a:solidFill>
              <a:srgbClr val="48BB78">
                <a:alpha val="30000"/>
              </a:srgbClr>
            </a:solidFill>
            <a:prstDash val="solid"/>
            <a:round/>
            <a:headEnd type="none" w="med" len="med"/>
            <a:tailEnd type="none" w="med" len="med"/>
          </a:ln>
        </p:spPr>
      </p:cxnSp>
      <p:sp>
        <p:nvSpPr>
          <p:cNvPr id="9" name="AutoShape 9"/>
          <p:cNvSpPr/>
          <p:nvPr/>
        </p:nvSpPr>
        <p:spPr>
          <a:xfrm>
            <a:off x="762000" y="3429000"/>
            <a:ext cx="2921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What kind of products does the AI algorithm inherently favor? We analyze the implicit patterns and category preferences that drive its automated suggestions to users across different contexts.</a:t>
            </a:r>
            <a:endParaRPr lang="en-US" sz="1100"/>
          </a:p>
        </p:txBody>
      </p:sp>
      <p:sp>
        <p:nvSpPr>
          <p:cNvPr id="10" name="AutoShape 10"/>
          <p:cNvSpPr/>
          <p:nvPr/>
        </p:nvSpPr>
        <p:spPr>
          <a:xfrm>
            <a:off x="4381500" y="2286000"/>
            <a:ext cx="3429000" cy="3048000"/>
          </a:xfrm>
          <a:prstGeom prst="roundRect">
            <a:avLst>
              <a:gd name="adj" fmla="val 0"/>
            </a:avLst>
          </a:prstGeom>
          <a:solidFill>
            <a:srgbClr val="48BB78">
              <a:alpha val="8000"/>
            </a:srgbClr>
          </a:solidFill>
          <a:ln w="12700" cap="flat" cmpd="sng">
            <a:solidFill>
              <a:srgbClr val="48BB78">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2603500"/>
            <a:ext cx="406400" cy="406400"/>
          </a:xfrm>
          <a:prstGeom prst="rect">
            <a:avLst/>
          </a:prstGeom>
        </p:spPr>
      </p:pic>
      <p:sp>
        <p:nvSpPr>
          <p:cNvPr id="12" name="AutoShape 12"/>
          <p:cNvSpPr/>
          <p:nvPr/>
        </p:nvSpPr>
        <p:spPr>
          <a:xfrm>
            <a:off x="5143500" y="2603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 Premium Prioritization</a:t>
            </a:r>
            <a:endParaRPr lang="en-US" sz="1100"/>
          </a:p>
        </p:txBody>
      </p:sp>
      <p:cxnSp>
        <p:nvCxnSpPr>
          <p:cNvPr id="13" name="Connector 13"/>
          <p:cNvCxnSpPr/>
          <p:nvPr/>
        </p:nvCxnSpPr>
        <p:spPr>
          <a:xfrm rot="-14946">
            <a:off x="4635514" y="3232150"/>
            <a:ext cx="2921000" cy="12700"/>
          </a:xfrm>
          <a:prstGeom prst="straightConnector1">
            <a:avLst/>
          </a:prstGeom>
          <a:solidFill>
            <a:srgbClr val="DEE0E3">
              <a:alpha val="100000"/>
            </a:srgbClr>
          </a:solidFill>
          <a:ln w="12700" cap="flat" cmpd="sng">
            <a:solidFill>
              <a:srgbClr val="48BB78">
                <a:alpha val="30000"/>
              </a:srgbClr>
            </a:solidFill>
            <a:prstDash val="solid"/>
            <a:round/>
            <a:headEnd type="none" w="med" len="med"/>
            <a:tailEnd type="none" w="med" len="med"/>
          </a:ln>
        </p:spPr>
      </p:cxnSp>
      <p:sp>
        <p:nvSpPr>
          <p:cNvPr id="14" name="AutoShape 14"/>
          <p:cNvSpPr/>
          <p:nvPr/>
        </p:nvSpPr>
        <p:spPr>
          <a:xfrm>
            <a:off x="4635500" y="3429000"/>
            <a:ext cx="2921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Are highly-rated and expensive products disproportionately recommended? We investigate if AI systems show a systematic bias towards premium-priced or popularly reviewed items in their ranking logic.</a:t>
            </a:r>
            <a:endParaRPr lang="en-US" sz="1100"/>
          </a:p>
        </p:txBody>
      </p:sp>
      <p:sp>
        <p:nvSpPr>
          <p:cNvPr id="15" name="AutoShape 15"/>
          <p:cNvSpPr/>
          <p:nvPr/>
        </p:nvSpPr>
        <p:spPr>
          <a:xfrm>
            <a:off x="8255000" y="2286000"/>
            <a:ext cx="3429000" cy="3048000"/>
          </a:xfrm>
          <a:prstGeom prst="roundRect">
            <a:avLst>
              <a:gd name="adj" fmla="val 0"/>
            </a:avLst>
          </a:prstGeom>
          <a:solidFill>
            <a:srgbClr val="48BB78">
              <a:alpha val="8000"/>
            </a:srgbClr>
          </a:solidFill>
          <a:ln w="12700" cap="flat" cmpd="sng">
            <a:solidFill>
              <a:srgbClr val="48BB78">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09000" y="2603500"/>
            <a:ext cx="406400" cy="406400"/>
          </a:xfrm>
          <a:prstGeom prst="rect">
            <a:avLst/>
          </a:prstGeom>
        </p:spPr>
      </p:pic>
      <p:sp>
        <p:nvSpPr>
          <p:cNvPr id="17" name="AutoShape 17"/>
          <p:cNvSpPr/>
          <p:nvPr/>
        </p:nvSpPr>
        <p:spPr>
          <a:xfrm>
            <a:off x="9017000" y="2603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 / Price-Perception Link</a:t>
            </a:r>
            <a:endParaRPr lang="en-US" sz="1100"/>
          </a:p>
        </p:txBody>
      </p:sp>
      <p:cxnSp>
        <p:nvCxnSpPr>
          <p:cNvPr id="18" name="Connector 18"/>
          <p:cNvCxnSpPr/>
          <p:nvPr/>
        </p:nvCxnSpPr>
        <p:spPr>
          <a:xfrm rot="-14946">
            <a:off x="8509014" y="3232150"/>
            <a:ext cx="2921000" cy="12700"/>
          </a:xfrm>
          <a:prstGeom prst="straightConnector1">
            <a:avLst/>
          </a:prstGeom>
          <a:solidFill>
            <a:srgbClr val="DEE0E3">
              <a:alpha val="100000"/>
            </a:srgbClr>
          </a:solidFill>
          <a:ln w="12700" cap="flat" cmpd="sng">
            <a:solidFill>
              <a:srgbClr val="48BB78">
                <a:alpha val="30000"/>
              </a:srgbClr>
            </a:solidFill>
            <a:prstDash val="solid"/>
            <a:round/>
            <a:headEnd type="none" w="med" len="med"/>
            <a:tailEnd type="none" w="med" len="med"/>
          </a:ln>
        </p:spPr>
      </p:cxnSp>
      <p:sp>
        <p:nvSpPr>
          <p:cNvPr id="19" name="AutoShape 19"/>
          <p:cNvSpPr/>
          <p:nvPr/>
        </p:nvSpPr>
        <p:spPr>
          <a:xfrm>
            <a:off x="8509000" y="3429000"/>
            <a:ext cx="2921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Does a higher price guarantee better user feedback? We examine the correlation between pricing tiers and actual customer satisfaction scores to validate the assumption of "you get what you pay for".</a:t>
            </a:r>
            <a:endParaRPr lang="en-US" sz="1100"/>
          </a:p>
        </p:txBody>
      </p:sp>
      <p:sp>
        <p:nvSpPr>
          <p:cNvPr id="20" name="AutoShape 20"/>
          <p:cNvSpPr/>
          <p:nvPr/>
        </p:nvSpPr>
        <p:spPr>
          <a:xfrm>
            <a:off x="508000" y="5715000"/>
            <a:ext cx="1117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0" i="1"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“By exploring these questions, we aim to demystify AI’s role in shaping consumer choices and reveal potential biases that influence online purchasing behavior.”</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48BB78">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2D3748">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09600" y="609600"/>
            <a:ext cx="10972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Our Plan</a:t>
            </a:r>
            <a:endParaRPr lang="en-US" sz="1100"/>
          </a:p>
        </p:txBody>
      </p:sp>
      <p:sp>
        <p:nvSpPr>
          <p:cNvPr id="5" name="AutoShape 5"/>
          <p:cNvSpPr/>
          <p:nvPr/>
        </p:nvSpPr>
        <p:spPr>
          <a:xfrm>
            <a:off x="609600" y="1778000"/>
            <a:ext cx="5283200" cy="3556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09600" y="1778000"/>
            <a:ext cx="5283200" cy="508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4400" y="2082800"/>
            <a:ext cx="406400" cy="406400"/>
          </a:xfrm>
          <a:prstGeom prst="rect">
            <a:avLst/>
          </a:prstGeom>
        </p:spPr>
      </p:pic>
      <p:sp>
        <p:nvSpPr>
          <p:cNvPr id="8" name="AutoShape 8"/>
          <p:cNvSpPr/>
          <p:nvPr/>
        </p:nvSpPr>
        <p:spPr>
          <a:xfrm>
            <a:off x="1473200" y="2082800"/>
            <a:ext cx="406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8BB78"/>
                </a:solidFill>
                <a:latin typeface="Noto Sans SC" panose="020B0200000000000000" charset="-122"/>
                <a:ea typeface="Noto Sans SC" panose="020B0200000000000000" charset="-122"/>
                <a:cs typeface="Noto Sans SC" panose="020B0200000000000000" charset="-122"/>
                <a:sym typeface="Noto Sans SC" panose="020B0200000000000000" charset="-122"/>
              </a:rPr>
              <a:t>01 Data Source</a:t>
            </a:r>
            <a:endParaRPr lang="en-US" sz="1100"/>
          </a:p>
        </p:txBody>
      </p:sp>
      <p:cxnSp>
        <p:nvCxnSpPr>
          <p:cNvPr id="9" name="Connector 9"/>
          <p:cNvCxnSpPr/>
          <p:nvPr/>
        </p:nvCxnSpPr>
        <p:spPr>
          <a:xfrm rot="-9341">
            <a:off x="914409" y="2660650"/>
            <a:ext cx="4673600" cy="12700"/>
          </a:xfrm>
          <a:prstGeom prst="line">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0" name="AutoShape 10"/>
          <p:cNvSpPr/>
          <p:nvPr/>
        </p:nvSpPr>
        <p:spPr>
          <a:xfrm>
            <a:off x="914400" y="2857500"/>
            <a:ext cx="4673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We utilize the</a:t>
            </a:r>
            <a:r>
              <a:rPr lang="en-US" sz="14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Amazon Electronics Customer Reviews</a:t>
            </a: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dataset from Kaggle, a rich public resource containing millions of verified user interactions with electronics products.</a:t>
            </a:r>
            <a:endParaRPr lang="en-US" sz="1100"/>
          </a:p>
        </p:txBody>
      </p:sp>
      <p:sp>
        <p:nvSpPr>
          <p:cNvPr id="11" name="AutoShape 11"/>
          <p:cNvSpPr/>
          <p:nvPr/>
        </p:nvSpPr>
        <p:spPr>
          <a:xfrm>
            <a:off x="914400" y="3746500"/>
            <a:ext cx="4673600" cy="508000"/>
          </a:xfrm>
          <a:prstGeom prst="roundRect">
            <a:avLst>
              <a:gd name="adj" fmla="val 0"/>
            </a:avLst>
          </a:prstGeom>
          <a:solidFill>
            <a:srgbClr val="EDF2F7">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3898900"/>
            <a:ext cx="203200" cy="203200"/>
          </a:xfrm>
          <a:prstGeom prst="rect">
            <a:avLst/>
          </a:prstGeom>
        </p:spPr>
      </p:pic>
      <p:sp>
        <p:nvSpPr>
          <p:cNvPr id="13" name="AutoShape 13"/>
          <p:cNvSpPr/>
          <p:nvPr/>
        </p:nvSpPr>
        <p:spPr>
          <a:xfrm>
            <a:off x="1397000" y="3873500"/>
            <a:ext cx="419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Pricing:</a:t>
            </a: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Raw and discounted prices across diverse categories</a:t>
            </a:r>
            <a:endParaRPr lang="en-US" sz="1100"/>
          </a:p>
        </p:txBody>
      </p:sp>
      <p:sp>
        <p:nvSpPr>
          <p:cNvPr id="14" name="AutoShape 14"/>
          <p:cNvSpPr/>
          <p:nvPr/>
        </p:nvSpPr>
        <p:spPr>
          <a:xfrm>
            <a:off x="914400" y="4318000"/>
            <a:ext cx="4673600" cy="508000"/>
          </a:xfrm>
          <a:prstGeom prst="roundRect">
            <a:avLst>
              <a:gd name="adj" fmla="val 0"/>
            </a:avLst>
          </a:prstGeom>
          <a:solidFill>
            <a:srgbClr val="EDF2F7">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470400"/>
            <a:ext cx="203200" cy="203200"/>
          </a:xfrm>
          <a:prstGeom prst="rect">
            <a:avLst/>
          </a:prstGeom>
        </p:spPr>
      </p:pic>
      <p:sp>
        <p:nvSpPr>
          <p:cNvPr id="16" name="AutoShape 16"/>
          <p:cNvSpPr/>
          <p:nvPr/>
        </p:nvSpPr>
        <p:spPr>
          <a:xfrm>
            <a:off x="1397000" y="4445000"/>
            <a:ext cx="419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Ratings:</a:t>
            </a: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Aggregated star scores &amp; individual user feedback</a:t>
            </a:r>
            <a:endParaRPr lang="en-US" sz="1100"/>
          </a:p>
        </p:txBody>
      </p:sp>
      <p:sp>
        <p:nvSpPr>
          <p:cNvPr id="17" name="AutoShape 17"/>
          <p:cNvSpPr/>
          <p:nvPr/>
        </p:nvSpPr>
        <p:spPr>
          <a:xfrm>
            <a:off x="914400" y="4889500"/>
            <a:ext cx="4673600" cy="508000"/>
          </a:xfrm>
          <a:prstGeom prst="roundRect">
            <a:avLst>
              <a:gd name="adj" fmla="val 0"/>
            </a:avLst>
          </a:prstGeom>
          <a:solidFill>
            <a:srgbClr val="EDF2F7">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6800" y="5041900"/>
            <a:ext cx="203200" cy="203200"/>
          </a:xfrm>
          <a:prstGeom prst="rect">
            <a:avLst/>
          </a:prstGeom>
        </p:spPr>
      </p:pic>
      <p:sp>
        <p:nvSpPr>
          <p:cNvPr id="19" name="AutoShape 19"/>
          <p:cNvSpPr/>
          <p:nvPr/>
        </p:nvSpPr>
        <p:spPr>
          <a:xfrm>
            <a:off x="1397000" y="5016500"/>
            <a:ext cx="419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Context:</a:t>
            </a: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Detailed review text and verified purchase status</a:t>
            </a:r>
            <a:endParaRPr lang="en-US" sz="1100"/>
          </a:p>
        </p:txBody>
      </p:sp>
      <p:sp>
        <p:nvSpPr>
          <p:cNvPr id="20" name="AutoShape 20"/>
          <p:cNvSpPr/>
          <p:nvPr/>
        </p:nvSpPr>
        <p:spPr>
          <a:xfrm>
            <a:off x="6299200" y="1778000"/>
            <a:ext cx="5283200" cy="3556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299200" y="1778000"/>
            <a:ext cx="5283200" cy="508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2082800"/>
            <a:ext cx="406400" cy="406400"/>
          </a:xfrm>
          <a:prstGeom prst="rect">
            <a:avLst/>
          </a:prstGeom>
        </p:spPr>
      </p:pic>
      <p:sp>
        <p:nvSpPr>
          <p:cNvPr id="23" name="AutoShape 23"/>
          <p:cNvSpPr/>
          <p:nvPr/>
        </p:nvSpPr>
        <p:spPr>
          <a:xfrm>
            <a:off x="7162800" y="2082800"/>
            <a:ext cx="406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8BB78"/>
                </a:solidFill>
                <a:latin typeface="Noto Sans SC" panose="020B0200000000000000" charset="-122"/>
                <a:ea typeface="Noto Sans SC" panose="020B0200000000000000" charset="-122"/>
                <a:cs typeface="Noto Sans SC" panose="020B0200000000000000" charset="-122"/>
                <a:sym typeface="Noto Sans SC" panose="020B0200000000000000" charset="-122"/>
              </a:rPr>
              <a:t>02 Research Methodology</a:t>
            </a:r>
            <a:endParaRPr lang="en-US" sz="1100"/>
          </a:p>
        </p:txBody>
      </p:sp>
      <p:cxnSp>
        <p:nvCxnSpPr>
          <p:cNvPr id="24" name="Connector 24"/>
          <p:cNvCxnSpPr/>
          <p:nvPr/>
        </p:nvCxnSpPr>
        <p:spPr>
          <a:xfrm rot="-9341">
            <a:off x="6604009" y="2660650"/>
            <a:ext cx="4673600" cy="12700"/>
          </a:xfrm>
          <a:prstGeom prst="line">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5" name="AutoShape 25"/>
          <p:cNvSpPr/>
          <p:nvPr/>
        </p:nvSpPr>
        <p:spPr>
          <a:xfrm>
            <a:off x="6604000" y="2857500"/>
            <a:ext cx="46736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To simulate AI recommendation dynamics, we stratify products into two distinct cohorts for controlled comparison:</a:t>
            </a:r>
            <a:endParaRPr lang="en-US" sz="1100"/>
          </a:p>
        </p:txBody>
      </p:sp>
      <p:sp>
        <p:nvSpPr>
          <p:cNvPr id="26" name="AutoShape 26"/>
          <p:cNvSpPr/>
          <p:nvPr/>
        </p:nvSpPr>
        <p:spPr>
          <a:xfrm>
            <a:off x="6604000" y="3746500"/>
            <a:ext cx="2260600" cy="1143000"/>
          </a:xfrm>
          <a:prstGeom prst="roundRect">
            <a:avLst>
              <a:gd name="adj" fmla="val 0"/>
            </a:avLst>
          </a:prstGeom>
          <a:solidFill>
            <a:srgbClr val="48BB78">
              <a:alpha val="8000"/>
            </a:srgbClr>
          </a:solidFill>
          <a:ln w="12700" cap="flat" cmpd="sng">
            <a:solidFill>
              <a:srgbClr val="48BB78">
                <a:alpha val="3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680200" y="3835400"/>
            <a:ext cx="2108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F855A"/>
                </a:solidFill>
                <a:latin typeface="Noto Sans SC" panose="020B0200000000000000" charset="-122"/>
                <a:ea typeface="Noto Sans SC" panose="020B0200000000000000" charset="-122"/>
                <a:cs typeface="Noto Sans SC" panose="020B0200000000000000" charset="-122"/>
                <a:sym typeface="Noto Sans SC" panose="020B0200000000000000" charset="-122"/>
              </a:rPr>
              <a:t>"Popular" Group</a:t>
            </a:r>
            <a:endParaRPr lang="en-US" sz="1100"/>
          </a:p>
          <a:p>
            <a:pPr marL="0" indent="0" algn="l">
              <a:lnSpc>
                <a:spcPct val="100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Proxy for AI-recommended items (high sales, top reviews, frequent mentions).</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9017000" y="3746500"/>
            <a:ext cx="2260600" cy="1143000"/>
          </a:xfrm>
          <a:prstGeom prst="roundRect">
            <a:avLst>
              <a:gd name="adj" fmla="val 0"/>
            </a:avLst>
          </a:prstGeom>
          <a:solidFill>
            <a:srgbClr val="718096">
              <a:alpha val="8000"/>
            </a:srgbClr>
          </a:solidFill>
          <a:ln w="12700" cap="flat" cmpd="sng">
            <a:solidFill>
              <a:srgbClr val="718096">
                <a:alpha val="3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9093200" y="3835400"/>
            <a:ext cx="2108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"Ordinary" Group</a:t>
            </a:r>
            <a:endParaRPr lang="en-US" sz="1100"/>
          </a:p>
          <a:p>
            <a:pPr marL="0" indent="0" algn="l">
              <a:lnSpc>
                <a:spcPct val="100000"/>
              </a:lnSpc>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Baseline comparison (niche, less visible, or lower engagement products).</a:t>
            </a:r>
            <a:endPar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p:nvPr/>
        </p:nvSpPr>
        <p:spPr>
          <a:xfrm>
            <a:off x="6604000" y="5016500"/>
            <a:ext cx="46736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Analysis:</a:t>
            </a: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Measure mean price difference and rating variance between groups.</a:t>
            </a:r>
            <a:endParaRPr lang="en-US" sz="1100"/>
          </a:p>
        </p:txBody>
      </p:sp>
      <p:sp>
        <p:nvSpPr>
          <p:cNvPr id="31" name="AutoShape 31"/>
          <p:cNvSpPr/>
          <p:nvPr/>
        </p:nvSpPr>
        <p:spPr>
          <a:xfrm>
            <a:off x="609600" y="5651500"/>
            <a:ext cx="10972800" cy="762000"/>
          </a:xfrm>
          <a:prstGeom prst="roundRect">
            <a:avLst>
              <a:gd name="adj" fmla="val 0"/>
            </a:avLst>
          </a:prstGeom>
          <a:solidFill>
            <a:srgbClr val="48BB78">
              <a:alpha val="8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609600" y="5651500"/>
            <a:ext cx="50800" cy="7620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812800" y="57785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Objective:</a:t>
            </a: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To determine if AI-curated "popular" products exhibit a price premium and/or a statistically significant difference in user ratings compared to non-curated alternatives.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48BB7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4445000"/>
            <a:ext cx="3175000" cy="3175000"/>
          </a:xfrm>
          <a:prstGeom prst="ellipse">
            <a:avLst/>
          </a:prstGeom>
          <a:solidFill>
            <a:srgbClr val="2D3748">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635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Tools We Use</a:t>
            </a:r>
            <a:endParaRPr lang="en-US" sz="1100"/>
          </a:p>
        </p:txBody>
      </p:sp>
      <p:sp>
        <p:nvSpPr>
          <p:cNvPr id="5" name="AutoShape 5"/>
          <p:cNvSpPr/>
          <p:nvPr/>
        </p:nvSpPr>
        <p:spPr>
          <a:xfrm>
            <a:off x="762000" y="2032000"/>
            <a:ext cx="5207000" cy="1905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50800" cy="19050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349500"/>
            <a:ext cx="508000" cy="508000"/>
          </a:xfrm>
          <a:prstGeom prst="rect">
            <a:avLst/>
          </a:prstGeom>
        </p:spPr>
      </p:pic>
      <p:sp>
        <p:nvSpPr>
          <p:cNvPr id="8" name="AutoShape 8"/>
          <p:cNvSpPr/>
          <p:nvPr/>
        </p:nvSpPr>
        <p:spPr>
          <a:xfrm>
            <a:off x="1778000" y="2286000"/>
            <a:ext cx="4000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VS Code</a:t>
            </a:r>
            <a:endParaRPr lang="en-US" sz="1100"/>
          </a:p>
          <a:p>
            <a:pPr marL="0" indent="0" algn="l">
              <a:lnSpc>
                <a:spcPct val="117000"/>
              </a:lnSpc>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Our primary development environment for writing clean code, debugging applications, and efficiently managing the entire project workflow.</a:t>
            </a:r>
            <a:endPar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223000" y="2032000"/>
            <a:ext cx="5207000" cy="1905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223000" y="2032000"/>
            <a:ext cx="50800" cy="19050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2349500"/>
            <a:ext cx="508000" cy="508000"/>
          </a:xfrm>
          <a:prstGeom prst="rect">
            <a:avLst/>
          </a:prstGeom>
        </p:spPr>
      </p:pic>
      <p:sp>
        <p:nvSpPr>
          <p:cNvPr id="12" name="AutoShape 12"/>
          <p:cNvSpPr/>
          <p:nvPr/>
        </p:nvSpPr>
        <p:spPr>
          <a:xfrm>
            <a:off x="7239000" y="2286000"/>
            <a:ext cx="4000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a:t>
            </a:r>
            <a:endParaRPr lang="en-US" sz="1100"/>
          </a:p>
          <a:p>
            <a:pPr marL="0" indent="0" algn="l">
              <a:lnSpc>
                <a:spcPct val="117000"/>
              </a:lnSpc>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The core programming language powering data cleaning, statistical analysis, and the creation of insightful visualizations.</a:t>
            </a:r>
            <a:endPar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4191000"/>
            <a:ext cx="5207000" cy="1905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62000" y="4191000"/>
            <a:ext cx="50800" cy="19050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508500"/>
            <a:ext cx="508000" cy="508000"/>
          </a:xfrm>
          <a:prstGeom prst="rect">
            <a:avLst/>
          </a:prstGeom>
        </p:spPr>
      </p:pic>
      <p:sp>
        <p:nvSpPr>
          <p:cNvPr id="16" name="AutoShape 16"/>
          <p:cNvSpPr/>
          <p:nvPr/>
        </p:nvSpPr>
        <p:spPr>
          <a:xfrm>
            <a:off x="1778000" y="4445000"/>
            <a:ext cx="4000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Git &amp; GitHub</a:t>
            </a:r>
            <a:endParaRPr lang="en-US" sz="1100"/>
          </a:p>
          <a:p>
            <a:pPr marL="0" indent="0" algn="l">
              <a:lnSpc>
                <a:spcPct val="117000"/>
              </a:lnSpc>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Essential for version control, tracking every code change, and enabling seamless collaborative work across the team.</a:t>
            </a:r>
            <a:endPar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223000" y="4191000"/>
            <a:ext cx="5207000" cy="1905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223000" y="4191000"/>
            <a:ext cx="50800" cy="19050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508500"/>
            <a:ext cx="508000" cy="508000"/>
          </a:xfrm>
          <a:prstGeom prst="rect">
            <a:avLst/>
          </a:prstGeom>
        </p:spPr>
      </p:pic>
      <p:sp>
        <p:nvSpPr>
          <p:cNvPr id="20" name="AutoShape 20"/>
          <p:cNvSpPr/>
          <p:nvPr/>
        </p:nvSpPr>
        <p:spPr>
          <a:xfrm>
            <a:off x="7239000" y="4445000"/>
            <a:ext cx="4000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Quarto</a:t>
            </a:r>
            <a:endParaRPr lang="en-US" sz="1100"/>
          </a:p>
          <a:p>
            <a:pPr marL="0" indent="0" algn="l">
              <a:lnSpc>
                <a:spcPct val="117000"/>
              </a:lnSpc>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Crafting polished, reproducible final reports that seamlessly integrate executable code, dynamic charts, and narrative text.</a:t>
            </a:r>
            <a:endPar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48BB7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2D3748">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635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Teamwork &amp; Roles</a:t>
            </a:r>
            <a:endParaRPr lang="en-US" sz="1100"/>
          </a:p>
        </p:txBody>
      </p:sp>
      <p:sp>
        <p:nvSpPr>
          <p:cNvPr id="5" name="AutoShape 5"/>
          <p:cNvSpPr/>
          <p:nvPr/>
        </p:nvSpPr>
        <p:spPr>
          <a:xfrm>
            <a:off x="609600" y="1778000"/>
            <a:ext cx="5270500" cy="4064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09600" y="1778000"/>
            <a:ext cx="5270500" cy="762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4400" y="2222500"/>
            <a:ext cx="609600" cy="609600"/>
          </a:xfrm>
          <a:prstGeom prst="rect">
            <a:avLst/>
          </a:prstGeom>
        </p:spPr>
      </p:pic>
      <p:sp>
        <p:nvSpPr>
          <p:cNvPr id="8" name="AutoShape 8"/>
          <p:cNvSpPr/>
          <p:nvPr/>
        </p:nvSpPr>
        <p:spPr>
          <a:xfrm>
            <a:off x="1651000" y="2260600"/>
            <a:ext cx="393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9" name="AutoShape 9"/>
          <p:cNvSpPr/>
          <p:nvPr/>
        </p:nvSpPr>
        <p:spPr>
          <a:xfrm>
            <a:off x="914400" y="2984500"/>
            <a:ext cx="46609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FOCUS: STRATEGY &amp; CONTENT</a:t>
            </a:r>
            <a:endParaRPr lang="en-US" sz="1100"/>
          </a:p>
        </p:txBody>
      </p:sp>
      <p:sp>
        <p:nvSpPr>
          <p:cNvPr id="10" name="AutoShape 10"/>
          <p:cNvSpPr/>
          <p:nvPr/>
        </p:nvSpPr>
        <p:spPr>
          <a:xfrm>
            <a:off x="914400" y="3302000"/>
            <a:ext cx="46609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8BB78"/>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Logic Design &amp; Narrative Architecture</a:t>
            </a:r>
            <a:endParaRPr lang="en-US" sz="1100"/>
          </a:p>
        </p:txBody>
      </p:sp>
      <p:cxnSp>
        <p:nvCxnSpPr>
          <p:cNvPr id="11" name="Connector 11"/>
          <p:cNvCxnSpPr/>
          <p:nvPr/>
        </p:nvCxnSpPr>
        <p:spPr>
          <a:xfrm rot="-9367">
            <a:off x="914409" y="3867150"/>
            <a:ext cx="46609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127500"/>
            <a:ext cx="203200" cy="203200"/>
          </a:xfrm>
          <a:prstGeom prst="rect">
            <a:avLst/>
          </a:prstGeom>
        </p:spPr>
      </p:pic>
      <p:sp>
        <p:nvSpPr>
          <p:cNvPr id="13" name="AutoShape 13"/>
          <p:cNvSpPr/>
          <p:nvPr/>
        </p:nvSpPr>
        <p:spPr>
          <a:xfrm>
            <a:off x="1193800" y="40894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Designing the structural framework for the entire project</a:t>
            </a:r>
            <a:endParaRPr lang="en-US" sz="1100"/>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572000"/>
            <a:ext cx="203200" cy="203200"/>
          </a:xfrm>
          <a:prstGeom prst="rect">
            <a:avLst/>
          </a:prstGeom>
        </p:spPr>
      </p:pic>
      <p:sp>
        <p:nvSpPr>
          <p:cNvPr id="15" name="AutoShape 15"/>
          <p:cNvSpPr/>
          <p:nvPr/>
        </p:nvSpPr>
        <p:spPr>
          <a:xfrm>
            <a:off x="1193800" y="45339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Creating comprehensive PPT visuals and narrative content</a:t>
            </a:r>
            <a:endParaRPr lang="en-US" sz="1100"/>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5016500"/>
            <a:ext cx="203200" cy="203200"/>
          </a:xfrm>
          <a:prstGeom prst="rect">
            <a:avLst/>
          </a:prstGeom>
        </p:spPr>
      </p:pic>
      <p:sp>
        <p:nvSpPr>
          <p:cNvPr id="17" name="AutoShape 17"/>
          <p:cNvSpPr/>
          <p:nvPr/>
        </p:nvSpPr>
        <p:spPr>
          <a:xfrm>
            <a:off x="1193800" y="49784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Writing and reviewing final project reports for accuracy</a:t>
            </a:r>
            <a:endParaRPr lang="en-US" sz="1100"/>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5461000"/>
            <a:ext cx="203200" cy="203200"/>
          </a:xfrm>
          <a:prstGeom prst="rect">
            <a:avLst/>
          </a:prstGeom>
        </p:spPr>
      </p:pic>
      <p:sp>
        <p:nvSpPr>
          <p:cNvPr id="19" name="AutoShape 19"/>
          <p:cNvSpPr/>
          <p:nvPr/>
        </p:nvSpPr>
        <p:spPr>
          <a:xfrm>
            <a:off x="1193800" y="54229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Coordinating team progress and ensuring alignment</a:t>
            </a:r>
            <a:endParaRPr lang="en-US" sz="1100"/>
          </a:p>
        </p:txBody>
      </p:sp>
      <p:sp>
        <p:nvSpPr>
          <p:cNvPr id="20" name="AutoShape 20"/>
          <p:cNvSpPr/>
          <p:nvPr/>
        </p:nvSpPr>
        <p:spPr>
          <a:xfrm>
            <a:off x="6311900" y="1778000"/>
            <a:ext cx="5270500" cy="4064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311900" y="1778000"/>
            <a:ext cx="5270500" cy="762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16700" y="2222500"/>
            <a:ext cx="609600" cy="609600"/>
          </a:xfrm>
          <a:prstGeom prst="rect">
            <a:avLst/>
          </a:prstGeom>
        </p:spPr>
      </p:pic>
      <p:sp>
        <p:nvSpPr>
          <p:cNvPr id="23" name="AutoShape 23"/>
          <p:cNvSpPr/>
          <p:nvPr/>
        </p:nvSpPr>
        <p:spPr>
          <a:xfrm>
            <a:off x="7353300" y="2260600"/>
            <a:ext cx="393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4" name="AutoShape 24"/>
          <p:cNvSpPr/>
          <p:nvPr/>
        </p:nvSpPr>
        <p:spPr>
          <a:xfrm>
            <a:off x="6616700" y="2984500"/>
            <a:ext cx="46609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FOCUS: TECHNICAL EXECUTION</a:t>
            </a:r>
            <a:endParaRPr lang="en-US" sz="1100"/>
          </a:p>
        </p:txBody>
      </p:sp>
      <p:sp>
        <p:nvSpPr>
          <p:cNvPr id="25" name="AutoShape 25"/>
          <p:cNvSpPr/>
          <p:nvPr/>
        </p:nvSpPr>
        <p:spPr>
          <a:xfrm>
            <a:off x="6616700" y="3302000"/>
            <a:ext cx="46609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8BB78"/>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Development Implementation &amp; Technical Infrastructure</a:t>
            </a:r>
            <a:endParaRPr lang="en-US" sz="1100"/>
          </a:p>
        </p:txBody>
      </p:sp>
      <p:cxnSp>
        <p:nvCxnSpPr>
          <p:cNvPr id="26" name="Connector 26"/>
          <p:cNvCxnSpPr/>
          <p:nvPr/>
        </p:nvCxnSpPr>
        <p:spPr>
          <a:xfrm rot="-9367">
            <a:off x="6616709" y="3867150"/>
            <a:ext cx="46609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pic>
        <p:nvPicPr>
          <p:cNvPr id="27" name="Picture 2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6700" y="4127500"/>
            <a:ext cx="203200" cy="203200"/>
          </a:xfrm>
          <a:prstGeom prst="rect">
            <a:avLst/>
          </a:prstGeom>
        </p:spPr>
      </p:pic>
      <p:sp>
        <p:nvSpPr>
          <p:cNvPr id="28" name="AutoShape 28"/>
          <p:cNvSpPr/>
          <p:nvPr/>
        </p:nvSpPr>
        <p:spPr>
          <a:xfrm>
            <a:off x="6896100" y="40894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Setting up and configuring the development environment</a:t>
            </a:r>
            <a:endParaRPr lang="en-US" sz="1100"/>
          </a:p>
        </p:txBody>
      </p:sp>
      <p:pic>
        <p:nvPicPr>
          <p:cNvPr id="29" name="Picture 2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6700" y="4572000"/>
            <a:ext cx="203200" cy="203200"/>
          </a:xfrm>
          <a:prstGeom prst="rect">
            <a:avLst/>
          </a:prstGeom>
        </p:spPr>
      </p:pic>
      <p:sp>
        <p:nvSpPr>
          <p:cNvPr id="30" name="AutoShape 30"/>
          <p:cNvSpPr/>
          <p:nvPr/>
        </p:nvSpPr>
        <p:spPr>
          <a:xfrm>
            <a:off x="6896100" y="45339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Writing clean, efficient code for core functionalities</a:t>
            </a:r>
            <a:endParaRPr lang="en-US" sz="1100"/>
          </a:p>
        </p:txBody>
      </p:sp>
      <p:pic>
        <p:nvPicPr>
          <p:cNvPr id="31" name="Picture 3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6700" y="5016500"/>
            <a:ext cx="203200" cy="203200"/>
          </a:xfrm>
          <a:prstGeom prst="rect">
            <a:avLst/>
          </a:prstGeom>
        </p:spPr>
      </p:pic>
      <p:sp>
        <p:nvSpPr>
          <p:cNvPr id="32" name="AutoShape 32"/>
          <p:cNvSpPr/>
          <p:nvPr/>
        </p:nvSpPr>
        <p:spPr>
          <a:xfrm>
            <a:off x="6896100" y="49784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Processing and analyzing complex datasets effectively</a:t>
            </a:r>
            <a:endParaRPr lang="en-US" sz="1100"/>
          </a:p>
        </p:txBody>
      </p:sp>
      <p:pic>
        <p:nvPicPr>
          <p:cNvPr id="33" name="Picture 3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6700" y="5461000"/>
            <a:ext cx="203200" cy="203200"/>
          </a:xfrm>
          <a:prstGeom prst="rect">
            <a:avLst/>
          </a:prstGeom>
        </p:spPr>
      </p:pic>
      <p:sp>
        <p:nvSpPr>
          <p:cNvPr id="34" name="AutoShape 34"/>
          <p:cNvSpPr/>
          <p:nvPr/>
        </p:nvSpPr>
        <p:spPr>
          <a:xfrm>
            <a:off x="6896100" y="54229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Managing version control and GitHub repository</a:t>
            </a:r>
            <a:endParaRPr lang="en-US" sz="1100"/>
          </a:p>
        </p:txBody>
      </p:sp>
      <p:sp>
        <p:nvSpPr>
          <p:cNvPr id="35" name="AutoShape 35"/>
          <p:cNvSpPr/>
          <p:nvPr/>
        </p:nvSpPr>
        <p:spPr>
          <a:xfrm>
            <a:off x="0" y="6159500"/>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“Combining strategic vision with technical excellence to deliver high-quality results.”</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48BB78">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2D3748">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762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a:t>
            </a:r>
            <a:endParaRPr lang="en-US" sz="1100"/>
          </a:p>
        </p:txBody>
      </p:sp>
      <p:sp>
        <p:nvSpPr>
          <p:cNvPr id="5" name="AutoShape 5"/>
          <p:cNvSpPr/>
          <p:nvPr/>
        </p:nvSpPr>
        <p:spPr>
          <a:xfrm>
            <a:off x="609600" y="2286000"/>
            <a:ext cx="3429000" cy="2921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09600" y="2286000"/>
            <a:ext cx="3429000" cy="508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63600" y="2603500"/>
            <a:ext cx="457200" cy="457200"/>
          </a:xfrm>
          <a:prstGeom prst="rect">
            <a:avLst/>
          </a:prstGeom>
        </p:spPr>
      </p:pic>
      <p:sp>
        <p:nvSpPr>
          <p:cNvPr id="8" name="AutoShape 8"/>
          <p:cNvSpPr/>
          <p:nvPr/>
        </p:nvSpPr>
        <p:spPr>
          <a:xfrm>
            <a:off x="1447800" y="2603500"/>
            <a:ext cx="2540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Beginner-Friendly</a:t>
            </a:r>
            <a:endParaRPr lang="en-US" sz="1100"/>
          </a:p>
        </p:txBody>
      </p:sp>
      <p:cxnSp>
        <p:nvCxnSpPr>
          <p:cNvPr id="9" name="Connector 9"/>
          <p:cNvCxnSpPr/>
          <p:nvPr/>
        </p:nvCxnSpPr>
        <p:spPr>
          <a:xfrm rot="-14946">
            <a:off x="863614" y="3295650"/>
            <a:ext cx="2921000" cy="12700"/>
          </a:xfrm>
          <a:prstGeom prst="line">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0" name="AutoShape 10"/>
          <p:cNvSpPr/>
          <p:nvPr/>
        </p:nvSpPr>
        <p:spPr>
          <a:xfrm>
            <a:off x="863600" y="35560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Perfectly aligned with our current skill level, it comprehensively covers all course requirements, ensuring an accessible and achievable starting point for every team member.</a:t>
            </a:r>
            <a:endParaRPr lang="en-US" sz="1100"/>
          </a:p>
        </p:txBody>
      </p:sp>
      <p:sp>
        <p:nvSpPr>
          <p:cNvPr id="11" name="AutoShape 11"/>
          <p:cNvSpPr/>
          <p:nvPr/>
        </p:nvSpPr>
        <p:spPr>
          <a:xfrm>
            <a:off x="4381500" y="2286000"/>
            <a:ext cx="3429000" cy="2921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381500" y="2286000"/>
            <a:ext cx="3429000" cy="508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2603500"/>
            <a:ext cx="457200" cy="457200"/>
          </a:xfrm>
          <a:prstGeom prst="rect">
            <a:avLst/>
          </a:prstGeom>
        </p:spPr>
      </p:pic>
      <p:sp>
        <p:nvSpPr>
          <p:cNvPr id="14" name="AutoShape 14"/>
          <p:cNvSpPr/>
          <p:nvPr/>
        </p:nvSpPr>
        <p:spPr>
          <a:xfrm>
            <a:off x="5219700" y="2603500"/>
            <a:ext cx="2540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Standard Workflow</a:t>
            </a:r>
            <a:endParaRPr lang="en-US" sz="1100"/>
          </a:p>
        </p:txBody>
      </p:sp>
      <p:cxnSp>
        <p:nvCxnSpPr>
          <p:cNvPr id="15" name="Connector 15"/>
          <p:cNvCxnSpPr/>
          <p:nvPr/>
        </p:nvCxnSpPr>
        <p:spPr>
          <a:xfrm rot="-14946">
            <a:off x="4635514" y="3295650"/>
            <a:ext cx="2921000" cy="12700"/>
          </a:xfrm>
          <a:prstGeom prst="line">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6" name="AutoShape 16"/>
          <p:cNvSpPr/>
          <p:nvPr/>
        </p:nvSpPr>
        <p:spPr>
          <a:xfrm>
            <a:off x="4635500" y="35560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We follow a clear division of labor and a professional, standardized project workflow. This structure guarantees transparency, efficiency, and accountability throughout the development process.</a:t>
            </a:r>
            <a:endParaRPr lang="en-US" sz="1100"/>
          </a:p>
        </p:txBody>
      </p:sp>
      <p:sp>
        <p:nvSpPr>
          <p:cNvPr id="17" name="AutoShape 17"/>
          <p:cNvSpPr/>
          <p:nvPr/>
        </p:nvSpPr>
        <p:spPr>
          <a:xfrm>
            <a:off x="8153400" y="2286000"/>
            <a:ext cx="3429000" cy="2921000"/>
          </a:xfrm>
          <a:prstGeom prst="roundRect">
            <a:avLst>
              <a:gd name="adj" fmla="val 0"/>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153400" y="2286000"/>
            <a:ext cx="3429000" cy="50800"/>
          </a:xfrm>
          <a:prstGeom prst="roundRect">
            <a:avLst>
              <a:gd name="adj" fmla="val 0"/>
            </a:avLst>
          </a:prstGeom>
          <a:solidFill>
            <a:srgbClr val="48BB7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07400" y="2603500"/>
            <a:ext cx="457200" cy="457200"/>
          </a:xfrm>
          <a:prstGeom prst="rect">
            <a:avLst/>
          </a:prstGeom>
        </p:spPr>
      </p:pic>
      <p:sp>
        <p:nvSpPr>
          <p:cNvPr id="20" name="AutoShape 20"/>
          <p:cNvSpPr/>
          <p:nvPr/>
        </p:nvSpPr>
        <p:spPr>
          <a:xfrm>
            <a:off x="8991600" y="2603500"/>
            <a:ext cx="2540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Knowledge Application</a:t>
            </a:r>
            <a:endParaRPr lang="en-US" sz="1100"/>
          </a:p>
        </p:txBody>
      </p:sp>
      <p:cxnSp>
        <p:nvCxnSpPr>
          <p:cNvPr id="21" name="Connector 21"/>
          <p:cNvCxnSpPr/>
          <p:nvPr/>
        </p:nvCxnSpPr>
        <p:spPr>
          <a:xfrm rot="-14946">
            <a:off x="8407414" y="3295650"/>
            <a:ext cx="2921000" cy="12700"/>
          </a:xfrm>
          <a:prstGeom prst="line">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2" name="AutoShape 22"/>
          <p:cNvSpPr/>
          <p:nvPr/>
        </p:nvSpPr>
        <p:spPr>
          <a:xfrm>
            <a:off x="8407400" y="35560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A crucial bridge between theory and practice, this project allows us to directly apply classroom-acquired concepts to analyze and solve a concrete, real-world challenge.</a:t>
            </a:r>
            <a:endParaRPr lang="en-US" sz="1100"/>
          </a:p>
        </p:txBody>
      </p:sp>
      <p:sp>
        <p:nvSpPr>
          <p:cNvPr id="23" name="AutoShape 23"/>
          <p:cNvSpPr/>
          <p:nvPr/>
        </p:nvSpPr>
        <p:spPr>
          <a:xfrm>
            <a:off x="609600" y="5524500"/>
            <a:ext cx="10972800" cy="762000"/>
          </a:xfrm>
          <a:prstGeom prst="roundRect">
            <a:avLst>
              <a:gd name="adj" fmla="val 0"/>
            </a:avLst>
          </a:prstGeom>
          <a:solidFill>
            <a:srgbClr val="48BB78">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63600" y="5689600"/>
            <a:ext cx="104648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2F855A"/>
                </a:solidFill>
                <a:latin typeface="Noto Sans SC" panose="020B0200000000000000" charset="-122"/>
                <a:ea typeface="Noto Sans SC" panose="020B0200000000000000" charset="-122"/>
                <a:cs typeface="Noto Sans SC" panose="020B0200000000000000" charset="-122"/>
                <a:sym typeface="Noto Sans SC" panose="020B0200000000000000" charset="-122"/>
              </a:rPr>
              <a:t>Key Takeaway: This project is not just an assignment, but a practical stepping stone to mastering our field.</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D374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0" y="-1524000"/>
            <a:ext cx="4064000" cy="4064000"/>
          </a:xfrm>
          <a:prstGeom prst="ellipse">
            <a:avLst/>
          </a:prstGeom>
          <a:solidFill>
            <a:srgbClr val="6366F1">
              <a:alpha val="12000"/>
            </a:srgbClr>
          </a:solidFill>
          <a:ln cap="flat" cmpd="sng">
            <a:solidFill>
              <a:srgbClr val="4346D7">
                <a:alpha val="12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9017000" y="3937000"/>
            <a:ext cx="5334000" cy="5334000"/>
          </a:xfrm>
          <a:prstGeom prst="ellipse">
            <a:avLst/>
          </a:prstGeom>
          <a:solidFill>
            <a:srgbClr val="A78BFA">
              <a:alpha val="12000"/>
            </a:srgbClr>
          </a:solidFill>
          <a:ln cap="flat" cmpd="sng">
            <a:solidFill>
              <a:srgbClr val="8566E1">
                <a:alpha val="12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18415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4615</Words>
  <Application>WPS 演示</Application>
  <PresentationFormat/>
  <Paragraphs>126</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8</vt:i4>
      </vt:variant>
    </vt:vector>
  </HeadingPairs>
  <TitlesOfParts>
    <vt:vector size="17"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WPS_1712626420</cp:lastModifiedBy>
  <cp:revision>2</cp:revision>
  <dcterms:created xsi:type="dcterms:W3CDTF">2026-07-10T02:02:00Z</dcterms:created>
  <dcterms:modified xsi:type="dcterms:W3CDTF">2026-07-10T02:49:46Z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{"Label":"1","ContentProducer":"001191110102MACQD9K64010000","ProduceID":"7660713603510586326","ReservedCode1":"","ContentPropagator":"","PropagateID":"","ReservedCode2":""}</vt:lpwstr>
  </property>
  <property fmtid="{D5CDD505-2E9C-101B-9397-08002B2CF9AE}" pid="3" name="ICV">
    <vt:lpwstr>9F7C3F34B1094DBE8E927F5454E4C85E_12</vt:lpwstr>
  </property>
  <property fmtid="{D5CDD505-2E9C-101B-9397-08002B2CF9AE}" pid="4" name="KSOProductBuildVer">
    <vt:lpwstr>2052-12.1.0.26895</vt:lpwstr>
  </property>
</Properties>
</file>